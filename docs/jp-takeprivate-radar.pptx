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808495"/>
                </a:solidFill>
                <a:latin typeface="Calibri"/>
                <a:ea typeface="Yu Gothic"/>
              </a:rPr>
              <a:t>Weight (log-odds)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 (log-odds)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FF4B4B"/>
              </a:solidFill>
            </c:spPr>
          </c:dPt>
          <c:dPt>
            <c:idx val="1"/>
            <c:invertIfNegative val="0"/>
            <c:spPr>
              <a:solidFill>
                <a:srgbClr val="FF4B4B"/>
              </a:solidFill>
            </c:spPr>
          </c:dPt>
          <c:dPt>
            <c:idx val="2"/>
            <c:invertIfNegative val="0"/>
            <c:spPr>
              <a:solidFill>
                <a:srgbClr val="2A78D6"/>
              </a:solidFill>
            </c:spPr>
          </c:dPt>
          <c:dPt>
            <c:idx val="3"/>
            <c:invertIfNegative val="0"/>
            <c:spPr>
              <a:solidFill>
                <a:srgbClr val="2A78D6"/>
              </a:solidFill>
            </c:spPr>
          </c:dPt>
          <c:dPt>
            <c:idx val="4"/>
            <c:invertIfNegative val="0"/>
            <c:spPr>
              <a:solidFill>
                <a:srgbClr val="2A78D6"/>
              </a:solidFill>
            </c:spPr>
          </c:dPt>
          <c:dPt>
            <c:idx val="5"/>
            <c:invertIfNegative val="0"/>
            <c:spPr>
              <a:solidFill>
                <a:srgbClr val="2A78D6"/>
              </a:solidFill>
            </c:spPr>
          </c:dPt>
          <c:dPt>
            <c:idx val="6"/>
            <c:invertIfNegative val="0"/>
            <c:spPr>
              <a:solidFill>
                <a:srgbClr val="2A78D6"/>
              </a:solidFill>
            </c:spPr>
          </c:dPt>
          <c:dPt>
            <c:idx val="7"/>
            <c:invertIfNegative val="0"/>
            <c:spPr>
              <a:solidFill>
                <a:srgbClr val="808495"/>
              </a:solidFill>
            </c:spPr>
          </c:dPt>
          <c:cat>
            <c:strRef>
              <c:f>Sheet1!$A$2:$A$9</c:f>
              <c:strCache>
                <c:ptCount val="8"/>
                <c:pt idx="0">
                  <c:v>Listed parent ≥ 20%</c:v>
                </c:pt>
                <c:pt idx="1">
                  <c:v>Activist 5% filing (12 m)</c:v>
                </c:pt>
                <c:pt idx="2">
                  <c:v>Small cap ≤ ¥30bn</c:v>
                </c:pt>
                <c:pt idx="3">
                  <c:v>Net cash ≥ 30% of value</c:v>
                </c:pt>
                <c:pt idx="4">
                  <c:v>Standard market</c:v>
                </c:pt>
                <c:pt idx="5">
                  <c:v>Family ≥ 30%</c:v>
                </c:pt>
                <c:pt idx="6">
                  <c:v>PBR &lt; 1</c:v>
                </c:pt>
                <c:pt idx="7">
                  <c:v>Representative aged 70+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1.38</c:v>
                </c:pt>
                <c:pt idx="1">
                  <c:v>0.77</c:v>
                </c:pt>
                <c:pt idx="2">
                  <c:v>0.29</c:v>
                </c:pt>
                <c:pt idx="3">
                  <c:v>0.24</c:v>
                </c:pt>
                <c:pt idx="4">
                  <c:v>0.14</c:v>
                </c:pt>
                <c:pt idx="5">
                  <c:v>0.13</c:v>
                </c:pt>
                <c:pt idx="6">
                  <c:v>0.08</c:v>
                </c:pt>
                <c:pt idx="7">
                  <c:v>-0.25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sz="1200">
                  <a:solidFill>
                    <a:srgbClr val="31333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5DAE5"/>
            </a:solidFill>
          </a:ln>
        </c:spPr>
        <c:txPr>
          <a:bodyPr/>
          <a:lstStyle/>
          <a:p>
            <a:pPr>
              <a:defRPr sz="1200">
                <a:solidFill>
                  <a:srgbClr val="31333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7"/>
          <c:min val="-0.6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808495"/>
                </a:solidFill>
                <a:latin typeface="Calibri"/>
                <a:ea typeface="Yu Gothic"/>
              </a:rPr>
              <a:t>Lift in the top 10%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in the top 10%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FF4B4B"/>
              </a:solidFill>
            </c:spPr>
          </c:dPt>
          <c:dPt>
            <c:idx val="1"/>
            <c:invertIfNegative val="0"/>
            <c:spPr>
              <a:solidFill>
                <a:srgbClr val="2A78D6"/>
              </a:solidFill>
            </c:spPr>
          </c:dPt>
          <c:dPt>
            <c:idx val="2"/>
            <c:invertIfNegative val="0"/>
            <c:spPr>
              <a:solidFill>
                <a:srgbClr val="2A78D6"/>
              </a:solidFill>
            </c:spPr>
          </c:dPt>
          <c:dPt>
            <c:idx val="3"/>
            <c:invertIfNegative val="0"/>
            <c:spPr>
              <a:solidFill>
                <a:srgbClr val="2A78D6"/>
              </a:solidFill>
            </c:spPr>
          </c:dPt>
          <c:dPt>
            <c:idx val="4"/>
            <c:invertIfNegative val="0"/>
            <c:spPr>
              <a:solidFill>
                <a:srgbClr val="808495"/>
              </a:solidFill>
            </c:spPr>
          </c:dPt>
          <c:dPt>
            <c:idx val="5"/>
            <c:invertIfNegative val="0"/>
            <c:spPr>
              <a:solidFill>
                <a:srgbClr val="808495"/>
              </a:solidFill>
            </c:spPr>
          </c:dPt>
          <c:dPt>
            <c:idx val="6"/>
            <c:invertIfNegative val="0"/>
            <c:spPr>
              <a:solidFill>
                <a:srgbClr val="D5DAE5"/>
              </a:solidFill>
            </c:spPr>
          </c:dPt>
          <c:cat>
            <c:strRef>
              <c:f>Sheet1!$A$2:$A$8</c:f>
              <c:strCache>
                <c:ptCount val="7"/>
                <c:pt idx="0">
                  <c:v>v2 (default)</c:v>
                </c:pt>
                <c:pt idx="1">
                  <c:v>Hybrid</c:v>
                </c:pt>
                <c:pt idx="2">
                  <c:v>Combined 7+7</c:v>
                </c:pt>
                <c:pt idx="3">
                  <c:v>Logistic per type</c:v>
                </c:pt>
                <c:pt idx="4">
                  <c:v>Hand-set rules (v0)</c:v>
                </c:pt>
                <c:pt idx="5">
                  <c:v>Value basket</c:v>
                </c:pt>
                <c:pt idx="6">
                  <c:v>Chance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2.22</c:v>
                </c:pt>
                <c:pt idx="1">
                  <c:v>2.25</c:v>
                </c:pt>
                <c:pt idx="2">
                  <c:v>1.96</c:v>
                </c:pt>
                <c:pt idx="3">
                  <c:v>1.91</c:v>
                </c:pt>
                <c:pt idx="4">
                  <c:v>1.41</c:v>
                </c:pt>
                <c:pt idx="5">
                  <c:v>1.12</c:v>
                </c:pt>
                <c:pt idx="6">
                  <c:v>1.0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1200">
                  <a:solidFill>
                    <a:srgbClr val="31333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5DAE5"/>
            </a:solidFill>
          </a:ln>
        </c:spPr>
        <c:txPr>
          <a:bodyPr/>
          <a:lstStyle/>
          <a:p>
            <a:pPr>
              <a:defRPr sz="1200">
                <a:solidFill>
                  <a:srgbClr val="31333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808495"/>
                </a:solidFill>
                <a:latin typeface="Calibri"/>
                <a:ea typeface="Yu Gothic"/>
              </a:rPr>
              <a:t>Mean excess (pp a year)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excess (pp a year)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2A78D6"/>
              </a:solidFill>
            </c:spPr>
          </c:dPt>
          <c:dPt>
            <c:idx val="1"/>
            <c:invertIfNegative val="0"/>
            <c:spPr>
              <a:solidFill>
                <a:srgbClr val="2A78D6"/>
              </a:solidFill>
            </c:spPr>
          </c:dPt>
          <c:dPt>
            <c:idx val="2"/>
            <c:invertIfNegative val="0"/>
            <c:spPr>
              <a:solidFill>
                <a:srgbClr val="808495"/>
              </a:solidFill>
            </c:spPr>
          </c:dPt>
          <c:dPt>
            <c:idx val="3"/>
            <c:invertIfNegative val="0"/>
            <c:spPr>
              <a:solidFill>
                <a:srgbClr val="FF4B4B"/>
              </a:solidFill>
            </c:spPr>
          </c:dPt>
          <c:dPt>
            <c:idx val="4"/>
            <c:invertIfNegative val="0"/>
            <c:spPr>
              <a:solidFill>
                <a:srgbClr val="2A78D6"/>
              </a:solidFill>
            </c:spPr>
          </c:dPt>
          <c:dPt>
            <c:idx val="5"/>
            <c:invertIfNegative val="0"/>
            <c:spPr>
              <a:solidFill>
                <a:srgbClr val="808495"/>
              </a:solidFill>
            </c:spPr>
          </c:dPt>
          <c:dPt>
            <c:idx val="6"/>
            <c:invertIfNegative val="0"/>
            <c:spPr>
              <a:solidFill>
                <a:srgbClr val="808495"/>
              </a:solidFill>
            </c:spPr>
          </c:dPt>
          <c:cat>
            <c:strRef>
              <c:f>Sheet1!$A$2:$A$8</c:f>
              <c:strCache>
                <c:ptCount val="7"/>
                <c:pt idx="0">
                  <c:v>Return model (sector-neutral)</c:v>
                </c:pt>
                <c:pt idx="1">
                  <c:v>Return model</c:v>
                </c:pt>
                <c:pt idx="2">
                  <c:v>Rules v0</c:v>
                </c:pt>
                <c:pt idx="3">
                  <c:v>Combined 7+7</c:v>
                </c:pt>
                <c:pt idx="4">
                  <c:v>Value basket</c:v>
                </c:pt>
                <c:pt idx="5">
                  <c:v>v2 (offers)</c:v>
                </c:pt>
                <c:pt idx="6">
                  <c:v>Logistic per type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18.7</c:v>
                </c:pt>
                <c:pt idx="1">
                  <c:v>15.0</c:v>
                </c:pt>
                <c:pt idx="2">
                  <c:v>12.5</c:v>
                </c:pt>
                <c:pt idx="3">
                  <c:v>9.1</c:v>
                </c:pt>
                <c:pt idx="4">
                  <c:v>8.3</c:v>
                </c:pt>
                <c:pt idx="5">
                  <c:v>1.1</c:v>
                </c:pt>
                <c:pt idx="6">
                  <c:v>-5.9</c:v>
                </c:pt>
              </c:numCache>
            </c:numRef>
          </c:val>
        </c:ser>
        <c:dLbls>
          <c:numFmt formatCode="+0.0&quot; pp&quot;;-0.0&quot; pp&quot;" sourceLinked="0"/>
          <c:txPr>
            <a:bodyPr/>
            <a:lstStyle/>
            <a:p>
              <a:pPr>
                <a:defRPr sz="1200">
                  <a:solidFill>
                    <a:srgbClr val="31333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5DAE5"/>
            </a:solidFill>
          </a:ln>
        </c:spPr>
        <c:txPr>
          <a:bodyPr/>
          <a:lstStyle/>
          <a:p>
            <a:pPr>
              <a:defRPr sz="1200">
                <a:solidFill>
                  <a:srgbClr val="31333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-1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a screen for M&amp;A analysis in Japan. It does not predict the future with certainty; it ranks ~4,000 companies by how much they resemble past take-private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TSE pressure since 2023 (PBR &lt; 1, listed subsidiaries) and activism made take-privates frequent. The base rate is still only ~1.8% a year per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point-in-time: a fact enters only if it was public before the screening date. Tests enforce it (ADR 0003).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learned on 13 quarter-ends (log-odds). The bootstrap shows listed parent, activist, small cap and cash are stable; family and PBR &lt; 1 alone are noise for offers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Lift = offer rate in the top 10% ÷ average rate. 7 test dates, each model trained only on data at least a year 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both: v2 finds parent buyouts; the MBO model finds management and family buyouts. The median premium differs by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Excess = 12-month portfolio return minus the average of all listed companies, mean of 7 dates, 15 names, equal weights. The premium lands on a few names; the result comes from the other ~90%.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quarterly dates with 12-month windows overlap: ~3 independent years. 72 strategies were tried; the best result is inflated by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was used to tune the model afterwards: they were in the top 50 of a past screen and only later received the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Facts from the 有価証券報告書 and prices up to the date. The price range is a historical anchor (premiums paid for similar targets),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臨時報告書 carry their reason in dedicated XBRL elements (checked on 440 reports). The radar downloads only those of followed companies and alerts control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scheduled task runs the update at 07:30 on weekdays; retraining is scheduled for April and October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honesty: the project is a screen with evidence, not a money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5DAE5"/>
                </a:solidFill>
                <a:latin typeface="Calibri"/>
                <a:ea typeface="Yu Gothic"/>
              </a:rPr>
              <a:t>RESEARCH PROJECT · JAPANESE EQUITIES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D5DAE5"/>
                </a:solidFill>
                <a:latin typeface="Calibri"/>
                <a:ea typeface="Yu Gothic"/>
              </a:rPr>
              <a:t>Which listed Japanese companies look like the ones that were later taken private (MBOs and tender offers) — from public filings, with no look-ahead and honest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846320"/>
            <a:ext cx="731520" cy="7315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M&amp;A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8920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EDINET · J-Quants · JPX  →  daily ranking, alerts and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Why Japan, and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Take-privates became routine — yet stay rare for any single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4B4B"/>
                </a:solidFill>
                <a:latin typeface="Calibri"/>
                <a:ea typeface="Yu Gothic"/>
              </a:rPr>
              <a:t>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of ~4,000 listed companies receive a take-private offer each year (~75 targets)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4B4B"/>
                </a:solidFill>
                <a:latin typeface="Calibri"/>
                <a:ea typeface="Yu Gothic"/>
              </a:rPr>
              <a:t>36–46%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632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median premium over the prior close (parent · MBO · third party)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4B4B"/>
                </a:solidFill>
                <a:latin typeface="Calibri"/>
                <a:ea typeface="Yu Gothic"/>
              </a:rPr>
              <a:t>283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632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offers studied (2021-09 → 2026-09) to measure premiums and price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What drives the deals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 b="1" i="0">
                <a:solidFill>
                  <a:srgbClr val="31333F"/>
                </a:solidFill>
                <a:latin typeface="Calibri"/>
                <a:ea typeface="Yu Gothic"/>
              </a:rPr>
              <a:t>TSE (2023): </a:t>
            </a: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companies below book value (PBR &lt; 1) must show a capital-efficiency plan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 b="1" i="0">
                <a:solidFill>
                  <a:srgbClr val="31333F"/>
                </a:solidFill>
                <a:latin typeface="Calibri"/>
                <a:ea typeface="Yu Gothic"/>
              </a:rPr>
              <a:t>親子上場: </a:t>
            </a: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groups are pushed to resolve listed subsidiaries — the most frequent buyer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Five steps, all rebuildable from the raw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EDINET (有報, 5% reports, tender offers, 臨時報告書), J-Quants prices, JPX 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92024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63240" y="214884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803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38328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~28 features per company: family, listed parent, activists, PBR, cash…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92024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49240" y="214884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8803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Rankings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38328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Rules with learned weights (v2), MBO model, combined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92024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35240" y="214884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8803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38328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Daily note, company card, fact pack, decision journal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92024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214884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8803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38328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Walk-forward with rules fixed in advance + live scoreboard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4B4B"/>
                </a:solidFill>
                <a:latin typeface="Calibri"/>
                <a:ea typeface="Yu Gothic"/>
              </a:rPr>
              <a:t>Rule #1: </a:t>
            </a: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no data from the future. Filings count only after submission; prices lag one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What signals an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Learned weights of the default ranking (v2) — higher means more likely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9494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737360"/>
            <a:ext cx="3749039" cy="438912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How to 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46888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31333F"/>
                </a:solidFill>
                <a:latin typeface="Calibri"/>
                <a:ea typeface="Yu Gothic"/>
              </a:rPr>
              <a:t>A listed parent is the dominant signal: subsidiaries get bought by their parent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31333F"/>
                </a:solidFill>
                <a:latin typeface="Calibri"/>
                <a:ea typeface="Yu Gothic"/>
              </a:rPr>
              <a:t>Activists raise the pressure for buybacks or a sale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31333F"/>
                </a:solidFill>
                <a:latin typeface="Calibri"/>
                <a:ea typeface="Yu Gothic"/>
              </a:rPr>
              <a:t>An old representative weighs negative overall — but matters for MBOs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How well it predicts offers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Lift in the top 10% (1.0 = chance) · walk-forward 2024-03 → 2025-09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9494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73736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4B4B"/>
                </a:solidFill>
                <a:latin typeface="Calibri"/>
                <a:ea typeface="Yu Gothic"/>
              </a:rPr>
              <a:t>4.4x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78892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on parent buyouts: v2's 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02336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42062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4B4B"/>
                </a:solidFill>
                <a:latin typeface="Calibri"/>
                <a:ea typeface="Yu Gothic"/>
              </a:rPr>
              <a:t>0.3x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507492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on MBOs for v2 — hence the separate MBO list (1.9x)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Two lists for two kinds of 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Each list sees what the other misses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96596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659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31333F"/>
                </a:solidFill>
                <a:latin typeface="Calibri"/>
                <a:ea typeface="Yu Gothic"/>
              </a:rPr>
              <a:t>Offer likelihood (v2)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08495"/>
                </a:solidFill>
                <a:latin typeface="Calibri"/>
                <a:ea typeface="Yu Gothic"/>
              </a:rPr>
              <a:t>Listed subsidiaries and activist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84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Lift 4.4x on parent buyouts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Nearly blind to MBOs (0.3x)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Median parent-buyout premium: 36%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9659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31333F"/>
                </a:solidFill>
                <a:latin typeface="Calibri"/>
                <a:ea typeface="Yu Gothic"/>
              </a:rPr>
              <a:t>MBO likelihood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08495"/>
                </a:solidFill>
                <a:latin typeface="Calibri"/>
                <a:ea typeface="Yu Gothic"/>
              </a:rPr>
              <a:t>Family companies, management with a stake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Lift 1.9x on MBOs (≈ rules v0)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Family ≥ 30%, no listed parent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Median MBO premium: 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08495"/>
                </a:solidFill>
                <a:latin typeface="Calibri"/>
                <a:ea typeface="Yu Gothic"/>
              </a:rPr>
              <a:t>Third parties (funds, strategics): median premium 46%, but the price already rises ~2.7% before the announcement.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Predicting the offer is not making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Portfolio of the first 15 names of each ranking · 12-month return above the market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9494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737360"/>
            <a:ext cx="3749039" cy="438912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The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46888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31333F"/>
                </a:solidFill>
                <a:latin typeface="Calibri"/>
                <a:ea typeface="Yu Gothic"/>
              </a:rPr>
              <a:t>The per-type logistic finds the most offers (11%) and loses to the market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31333F"/>
                </a:solidFill>
                <a:latin typeface="Calibri"/>
                <a:ea typeface="Yu Gothic"/>
              </a:rPr>
              <a:t>Returns come from neglected, cheap companies — not from the premium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31333F"/>
                </a:solidFill>
                <a:latin typeface="Calibri"/>
                <a:ea typeface="Yu Gothic"/>
              </a:rPr>
              <a:t>Combined 7+7 found offers at 6x the base rate; its return came from the MBO half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What the numbers do NOT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Honest evidence: the test that counts is the live 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4B4B"/>
                </a:solidFill>
                <a:latin typeface="Calibri"/>
                <a:ea typeface="Yu Gothic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overlapping test dates (~3 independent years) in a rising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4B4B"/>
                </a:solidFill>
                <a:latin typeface="Calibri"/>
                <a:ea typeface="Yu Gothic"/>
              </a:rPr>
              <a:t>&lt;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632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chance of skill for all 72 strategies, after counting the 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4B4B"/>
                </a:solidFill>
                <a:latin typeface="Calibri"/>
                <a:ea typeface="Yu Gothic"/>
              </a:rPr>
              <a:t>¥5–16m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632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capacity: above it the stocks' trading volume cannot absorb the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 b="1" i="0">
                <a:solidFill>
                  <a:srgbClr val="31333F"/>
                </a:solidFill>
                <a:latin typeface="Calibri"/>
                <a:ea typeface="Yu Gothic"/>
              </a:rPr>
              <a:t>Rules fixed before running: </a:t>
            </a: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every decision was written down before seeing its result (results.md)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 b="1" i="0">
                <a:solidFill>
                  <a:srgbClr val="31333F"/>
                </a:solidFill>
                <a:latin typeface="Calibri"/>
                <a:ea typeface="Yu Gothic"/>
              </a:rPr>
              <a:t>Live scoreboard: </a:t>
            </a: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each day's ranking is frozen and judged on the offers that come afterwards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Case 1 — Companies that ranked high before their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In the top 50 of a past screen — then taken private by an MBO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03120"/>
            <a:ext cx="685800" cy="68580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MBO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0574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31333F"/>
                </a:solidFill>
                <a:latin typeface="Calibri"/>
                <a:ea typeface="Yu Gothic"/>
              </a:rPr>
              <a:t>大正製薬HD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9748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#20 in 2022-09 · family 35%, representative 81, PBR 0.57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103120"/>
            <a:ext cx="685800" cy="68580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MBO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574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31333F"/>
                </a:solidFill>
                <a:latin typeface="Calibri"/>
                <a:ea typeface="Yu Gothic"/>
              </a:rPr>
              <a:t>寺岡製作所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69748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#1 in 2022-09 · listed holder, PBR 0.30, ¥8.6bn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" y="4160520"/>
            <a:ext cx="685800" cy="68580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MBO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148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31333F"/>
                </a:solidFill>
                <a:latin typeface="Calibri"/>
                <a:ea typeface="Yu Gothic"/>
              </a:rPr>
              <a:t>理研コランダム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75488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#1 in 2024-03 · listed holder, PBR 0.48, ¥2.3bn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MBO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1148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31333F"/>
                </a:solidFill>
                <a:latin typeface="Calibri"/>
                <a:ea typeface="Yu Gothic"/>
              </a:rPr>
              <a:t>杉田エース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75488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#21 in 2022-09 · family 37%, representative 74, PBR 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1333F"/>
                </a:solidFill>
                <a:latin typeface="Calibri"/>
                <a:ea typeface="Yu Gothic"/>
              </a:rPr>
              <a:t>Rank under the hand-set rules (v0) on a screen BEFORE the offer. All were MBOs — the type v2 alone does not see.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Case 2 — A company card: 近畿車輛 (7122)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What the card and the fact pack show in one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4B4B"/>
                </a:solidFill>
                <a:latin typeface="Calibri"/>
                <a:ea typeface="Yu Gothic"/>
              </a:rPr>
              <a:t>107%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net cash / market cap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4B4B"/>
                </a:solidFill>
                <a:latin typeface="Calibri"/>
                <a:ea typeface="Yu Gothic"/>
              </a:rPr>
              <a:t>0.36x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97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adjusted PBR (rental property at fair value)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4B4B"/>
                </a:solidFill>
                <a:latin typeface="Calibri"/>
                <a:ea typeface="Yu Gothic"/>
              </a:rPr>
              <a:t>≈ 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97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近鉄 group (direct + pension trust)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73736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4B4B"/>
                </a:solidFill>
                <a:latin typeface="Calibri"/>
                <a:ea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697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activists in turn (Effissimo, Rangeley, Oasis)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1333F"/>
                </a:solidFill>
                <a:latin typeface="Calibri"/>
                <a:ea typeface="Yu Gothic"/>
              </a:rPr>
              <a:t>Likely offer price (historical anchors) vs last close ¥2,305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3434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554480"/>
                <a:gridCol w="1554480"/>
                <a:gridCol w="1554480"/>
                <a:gridCol w="2194560"/>
              </a:tblGrid>
              <a:tr h="4876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Anchor</a:t>
                      </a:r>
                    </a:p>
                  </a:txBody>
                  <a:tcPr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Low</a:t>
                      </a:r>
                    </a:p>
                  </a:txBody>
                  <a:tcPr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Median</a:t>
                      </a:r>
                    </a:p>
                  </a:txBody>
                  <a:tcPr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High</a:t>
                      </a:r>
                    </a:p>
                  </a:txBody>
                  <a:tcPr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Yu Gothic"/>
                        </a:rPr>
                        <a:t>Median vs last</a:t>
                      </a:r>
                    </a:p>
                  </a:txBody>
                  <a:tcPr>
                    <a:solidFill>
                      <a:srgbClr val="0E111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Premium paid (75 third-party offers)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¥3,052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¥3,354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¥3,946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+46%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PBR paid (48 targets at PBR &lt; 0.6)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¥3,041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¥3,541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¥4,239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1333F"/>
                          </a:solidFill>
                          <a:latin typeface="Calibri"/>
                          <a:ea typeface="Yu Gothic"/>
                        </a:rPr>
                        <a:t>+54%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Reading: real pressure (cash, activists); the natural buyer — or seller — is the 近鉄 group.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Case 3 — The alert comes before 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Real 臨時報告書 the alert classifies (2026-06 →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0195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親会社の異動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9572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東芝テック · 松屋R&amp;D · シンポ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659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New parent after a tender offer — the control change shows the same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7355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株式併合 (squeeze-out)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6732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ＴＨＥグローバル社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3375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Meeting to consolidate shares: the last step of a take-private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64515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1333F"/>
                </a:solidFill>
                <a:latin typeface="Calibri"/>
                <a:ea typeface="Yu Gothic"/>
              </a:rPr>
              <a:t>主要株主の異動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13892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08495"/>
                </a:solidFill>
                <a:latin typeface="Calibri"/>
                <a:ea typeface="Yu Gothic"/>
              </a:rPr>
              <a:t>47 reports in the 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7091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1333F"/>
                </a:solidFill>
                <a:latin typeface="Calibri"/>
                <a:ea typeface="Yu Gothic"/>
              </a:rPr>
              <a:t>A 10%+ holder entering or leaving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08495"/>
                </a:solidFill>
                <a:latin typeface="Calibri"/>
                <a:ea typeface="Yu Gothic"/>
              </a:rPr>
              <a:t>Also in the daily note: tender offers, 5% filings (activists flagged), unusual trading and drops in data coverage.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31333F"/>
                </a:solidFill>
                <a:latin typeface="Calibri"/>
                <a:ea typeface="Yu Gothic"/>
              </a:rPr>
              <a:t>How to use it day to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08495"/>
                </a:solidFill>
                <a:latin typeface="Calibri"/>
                <a:ea typeface="Yu Gothic"/>
              </a:rPr>
              <a:t>Ten minutes a day; the rest is 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Japan Take-Private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08495"/>
                </a:solidFill>
                <a:latin typeface="Calibri"/>
                <a:ea typeface="Yu Gothi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737360" cy="28346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4B4B"/>
                </a:solidFill>
                <a:latin typeface="Calibri"/>
                <a:ea typeface="Yu Gothic"/>
              </a:rPr>
              <a:t>07:30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Automatic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Filings, prices, scores,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1828800"/>
            <a:ext cx="1737360" cy="28346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20116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4B4B"/>
                </a:solidFill>
                <a:latin typeface="Calibri"/>
                <a:ea typeface="Yu Gothic"/>
              </a:rPr>
              <a:t>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51460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Read the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342900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Control changes, offers, activists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1828800"/>
            <a:ext cx="1737360" cy="28346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116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4B4B"/>
                </a:solidFill>
                <a:latin typeface="Calibri"/>
                <a:ea typeface="Yu Gothic"/>
              </a:rPr>
              <a:t>Weekly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1460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Two 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42900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v2 + MBO → card → fact pack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3" y="1828800"/>
            <a:ext cx="1737360" cy="28346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3" y="20116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4B4B"/>
                </a:solidFill>
                <a:latin typeface="Calibri"/>
                <a:ea typeface="Yu Gothic"/>
              </a:rPr>
              <a:t>Each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51460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Journal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342900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Reason, price — the outcome shows later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28800"/>
            <a:ext cx="1737360" cy="28346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20116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4B4B"/>
                </a:solidFill>
                <a:latin typeface="Calibri"/>
                <a:ea typeface="Yu Gothic"/>
              </a:rPr>
              <a:t>Monthly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251460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Live scoreboard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342900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The only clean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1828800"/>
            <a:ext cx="1737360" cy="2834640"/>
          </a:xfrm>
          <a:prstGeom prst="roundRect">
            <a:avLst>
              <a:gd name="adj" fmla="val 8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9" y="20116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4B4B"/>
                </a:solidFill>
                <a:latin typeface="Calibri"/>
                <a:ea typeface="Yu Gothic"/>
              </a:rPr>
              <a:t>Apr · Oct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251460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1333F"/>
                </a:solidFill>
                <a:latin typeface="Calibri"/>
                <a:ea typeface="Yu Gothic"/>
              </a:rPr>
              <a:t>Retrain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59" y="342900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1333F"/>
                </a:solidFill>
                <a:latin typeface="Calibri"/>
                <a:ea typeface="Yu Gothic"/>
              </a:rPr>
              <a:t>make refit, scheduled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4B4B"/>
                </a:solidFill>
                <a:latin typeface="Calibri"/>
                <a:ea typeface="Yu Gothic"/>
              </a:rPr>
              <a:t>Right use: </a:t>
            </a:r>
            <a:r>
              <a:rPr sz="1600" b="0" i="0">
                <a:solidFill>
                  <a:srgbClr val="31333F"/>
                </a:solidFill>
                <a:latin typeface="Calibri"/>
                <a:ea typeface="Yu Gothic"/>
              </a:rPr>
              <a:t>a screen for analysis. Most companies at the top never receive an offer.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  <a:ea typeface="Yu Gothic"/>
              </a:rP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4B4B"/>
                </a:solidFill>
                <a:latin typeface="Calibri"/>
                <a:ea typeface="Yu Gothic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Event date = the offer's filing, not its announcement (TDnet is paid)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Group stakes split across affiliates are understated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Seven test dates: weak evidence — the live scoreboard decides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Small capacity: ¥5–16m per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4B4B"/>
                </a:solidFill>
                <a:latin typeface="Calibri"/>
                <a:ea typeface="Yu Gothic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1460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Follow the live scoreboard for 6–12 months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Retrain in April and October 2027 (scheduled)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Write the memos and publish the repository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Yu Gothic"/>
              </a:rPr>
              <a:t>Review the activist list every six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5DAE5"/>
                </a:solidFill>
                <a:latin typeface="Calibri"/>
                <a:ea typeface="Yu Gothic"/>
              </a:rPr>
              <a:t>Research,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